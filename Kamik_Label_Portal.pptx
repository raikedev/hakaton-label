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068" y="21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9219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ДОКЛАДЧИК 1:</a:t>
            </a:r>
          </a:p>
          <a:p>
            <a:r>
              <a:t>Добрый день! Мы представляем Kamik Label Portal — современный рабочий кабинет для музыкального лейбла и его артистов.</a:t>
            </a:r>
          </a:p>
          <a:p>
            <a:r>
              <a:t>Продукт закрывает полный цикл: от загрузки отчётов о роялти до выплат артистам, с аналитикой и AI-инсайтами прямо внутри платформы.</a:t>
            </a:r>
          </a:p>
          <a:p>
            <a:r>
              <a:t>Дадим вам живую демонстрацию после презентации.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ДОКЛАДЧИК 1:</a:t>
            </a:r>
          </a:p>
          <a:p>
            <a:r>
              <a:t>Типичная картина в музыкальном лейбле: менеджер получает Excel от Яндекса, другой Excel от VK, третий от Spotify — и вручную сводит их в одну таблицу.</a:t>
            </a:r>
          </a:p>
          <a:p>
            <a:r>
              <a:t>Артист звонит и спрашивает «когда деньги?» — никто не знает навскидку.</a:t>
            </a:r>
          </a:p>
          <a:p>
            <a:r>
              <a:t>Согласование релиза — это цепочка сообщений в Telegram.</a:t>
            </a:r>
          </a:p>
          <a:p>
            <a:r>
              <a:t>Мы закрыли все эти проблемы одним продуктом.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ДОКЛАДЧИК 2:</a:t>
            </a:r>
          </a:p>
          <a:p>
            <a:r>
              <a:t>Платформа состоит из восьми разделов — каждый отвечает за конкретную рабочую задачу.</a:t>
            </a:r>
          </a:p>
          <a:p>
            <a:r>
              <a:t>Артист входит и видит свой дашборд, каталог и финансы.</a:t>
            </a:r>
          </a:p>
          <a:p>
            <a:r>
              <a:t>Администратор лейбла дополнительно управляет артистами и загружает роялти-отчёты.</a:t>
            </a:r>
          </a:p>
          <a:p>
            <a:r>
              <a:t>Всё в одном интерфейсе, без переключения между инструментами.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ДОКЛАДЧИК 1:</a:t>
            </a:r>
          </a:p>
          <a:p>
            <a:r>
              <a:t>Стек выбран прагматично: React с TypeScript даёт типобезопасный frontend, FastAPI — быстрый и задокументированный REST API.</a:t>
            </a:r>
          </a:p>
          <a:p>
            <a:r>
              <a:t>PostgreSQL хранит всё: треки, статистику, транзакции, реквизиты.</a:t>
            </a:r>
          </a:p>
          <a:p>
            <a:r>
              <a:t>Docker Compose — один файл, один старт, никаких сложностей с окружением.</a:t>
            </a:r>
          </a:p>
          <a:p>
            <a:r>
              <a:t>Yandex DataLens подключается напрямую к базе и строит внешние отчёты; мы просто храним ссылку на отчёт у каждого артиста.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ДОКЛАДЧИК 2:</a:t>
            </a:r>
          </a:p>
          <a:p>
            <a:r>
              <a:t>Ключевая операция в системе — загрузка роялти-отчёта.</a:t>
            </a:r>
          </a:p>
          <a:p>
            <a:r>
              <a:t>Администратор берёт файл от Яндекса или VK, загружает через панель — и за секунды все артисты видят обновлённые данные у себя в кабинете.</a:t>
            </a:r>
          </a:p>
          <a:p>
            <a:r>
              <a:t>Повторная загрузка того же периода безопасна: система обновит цифры, не создавая дублей.</a:t>
            </a:r>
          </a:p>
          <a:p>
            <a:r>
              <a:t>Можно показать это прямо сейчас на демо.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ДОКЛАДЧИК 1:</a:t>
            </a:r>
          </a:p>
          <a:p>
            <a:r>
              <a:t>Финансовый блок — два связанных раздела.</a:t>
            </a:r>
          </a:p>
          <a:p>
            <a:r>
              <a:t>Баланс показывает все движения денег: начисления от каждой платформы за каждый период, исходящие переводы.</a:t>
            </a:r>
          </a:p>
          <a:p>
            <a:r>
              <a:t>Раздел Выплаты — это реестр: каждая строка имеет статус, можно открыть детали и посмотреть разбивку по периодам и платформам.</a:t>
            </a:r>
          </a:p>
          <a:p>
            <a:r>
              <a:t>Когда администратор отмечает выплату как «Выполнена» — в балансе артиста автоматически появляется исходящая транзакция.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ДОКЛАДЧИК 2:</a:t>
            </a:r>
          </a:p>
          <a:p>
            <a:r>
              <a:t>В аналитике шесть видов графиков — каждый даёт свой угол зрения.</a:t>
            </a:r>
          </a:p>
          <a:p>
            <a:r>
              <a:t>Стековый бар показывает динамику по платформам, radar — где артист сильнее и слабее, RPM — где за один стрим платят больше.</a:t>
            </a:r>
          </a:p>
          <a:p>
            <a:r>
              <a:t>Внизу страницы — встроенный DataLens-iframe: администратор один раз привязывает публичный отчёт к кабинету, и артист видит полноценный BI-дашборд.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ДОКЛАДЧИК 1:</a:t>
            </a:r>
          </a:p>
          <a:p>
            <a:r>
              <a:t>AI-инсайты — это оперативный аналитический помощник.</a:t>
            </a:r>
          </a:p>
          <a:p>
            <a:r>
              <a:t>Система анализирует каталог артиста и формирует сигналы трёх типов.</a:t>
            </a:r>
          </a:p>
          <a:p>
            <a:r>
              <a:t>Возможности — где можно заработать больше.</a:t>
            </a:r>
          </a:p>
          <a:p>
            <a:r>
              <a:t>Риски — что нужно исправить или отслеживать.</a:t>
            </a:r>
          </a:p>
          <a:p>
            <a:r>
              <a:t>Действия — конкретный следующий шаг, например «добавить трек на платформу X» или «отправить релиз дистрибьютору».</a:t>
            </a:r>
          </a:p>
          <a:p>
            <a:r>
              <a:t>Кнопка «Обновить» перегенерирует инсайты с учётом свежих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ДОКЛАДЧИК 2:</a:t>
            </a:r>
          </a:p>
          <a:p>
            <a:r>
              <a:t>Два раздела для операционной работы лейбла.</a:t>
            </a:r>
          </a:p>
          <a:p>
            <a:r>
              <a:t>Согласования — это воронка релиза: шесть фиксированных этапов от загрузки материала до публикации.</a:t>
            </a:r>
          </a:p>
          <a:p>
            <a:r>
              <a:t>Каждый релиз в левой панели, детали и прогресс — справа. Можно создать новый релиз прямо из интерфейса.</a:t>
            </a:r>
          </a:p>
          <a:p>
            <a:r>
              <a:t>Синхронизации — раздел для работы с кино, рекламой и медиапроектами.</a:t>
            </a:r>
          </a:p>
          <a:p>
            <a:r>
              <a:t>Каждый кейс показывает лицензионный сбор и роялти от стримингов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ДОКЛАДЧИК 1:</a:t>
            </a:r>
          </a:p>
          <a:p>
            <a:r>
              <a:t>Несколько UX-деталей, которые делают работу комфортной.</a:t>
            </a:r>
          </a:p>
          <a:p>
            <a:r>
              <a:t>Ctrl+K — глобальный поиск: можно написать ISRC трека и сразу попасть в его карточку, или набрать «выплаты» и перейти в нужный раздел.</a:t>
            </a:r>
          </a:p>
          <a:p>
            <a:r>
              <a:t>Экспорт CSV есть в балансе, каталоге и реестре выплат — бухгалтер получает нужный файл без дополнительных инструментов.</a:t>
            </a:r>
          </a:p>
          <a:p>
            <a:r>
              <a:t>Детали трека показывают RPM и разбивку по платформам — можно понять, где трек работает лучше.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ДОКЛАДЧИК 2:</a:t>
            </a:r>
          </a:p>
          <a:p>
            <a:r>
              <a:t>Сейчас проведём живое демо по этому сценарию.</a:t>
            </a:r>
          </a:p>
          <a:p>
            <a:r>
              <a:t>Начинаем с входа под артистом — показываем дашборд, каталог, аналитику.</a:t>
            </a:r>
          </a:p>
          <a:p>
            <a:r>
              <a:t>Потом переходим к финансам и согласованиям.</a:t>
            </a:r>
          </a:p>
          <a:p>
            <a:r>
              <a:t>Ключевой момент — шаг 08: загрузим CSV с роялти как администратор и покажем, как данные мгновенно обновляются в кабинете артиста.</a:t>
            </a:r>
          </a:p>
          <a:p>
            <a:r>
              <a:t>После демо —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ДОКЛАДЧИКИ (вместе):</a:t>
            </a:r>
          </a:p>
          <a:p>
            <a:r>
              <a:t>Kamik Label Portal решает реальную операционную задачу любого лейбла.</a:t>
            </a:r>
          </a:p>
          <a:p>
            <a:r>
              <a:t>Открытый стек, быстрый старт через Docker, интуитивный интерфейс.</a:t>
            </a:r>
          </a:p>
          <a:p>
            <a:r>
              <a:t>Мы готовы показать любую часть системы подробнее.</a:t>
            </a:r>
          </a:p>
          <a:p>
            <a:r>
              <a:t>Есть вопросы?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B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841247"/>
            <a:ext cx="11868912" cy="9144"/>
          </a:xfrm>
          <a:prstGeom prst="rect">
            <a:avLst/>
          </a:prstGeom>
          <a:solidFill>
            <a:srgbClr val="20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1700784"/>
            <a:ext cx="11868912" cy="9144"/>
          </a:xfrm>
          <a:prstGeom prst="rect">
            <a:avLst/>
          </a:prstGeom>
          <a:solidFill>
            <a:srgbClr val="20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2560320"/>
            <a:ext cx="11868912" cy="9144"/>
          </a:xfrm>
          <a:prstGeom prst="rect">
            <a:avLst/>
          </a:prstGeom>
          <a:solidFill>
            <a:srgbClr val="20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3419856"/>
            <a:ext cx="11868912" cy="9144"/>
          </a:xfrm>
          <a:prstGeom prst="rect">
            <a:avLst/>
          </a:prstGeom>
          <a:solidFill>
            <a:srgbClr val="20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4279392"/>
            <a:ext cx="11868912" cy="9144"/>
          </a:xfrm>
          <a:prstGeom prst="rect">
            <a:avLst/>
          </a:prstGeom>
          <a:solidFill>
            <a:srgbClr val="20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5138928"/>
            <a:ext cx="11868912" cy="9144"/>
          </a:xfrm>
          <a:prstGeom prst="rect">
            <a:avLst/>
          </a:prstGeom>
          <a:solidFill>
            <a:srgbClr val="20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5998464"/>
            <a:ext cx="11868912" cy="9144"/>
          </a:xfrm>
          <a:prstGeom prst="rect">
            <a:avLst/>
          </a:prstGeom>
          <a:solidFill>
            <a:srgbClr val="20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6858000"/>
            <a:ext cx="11868912" cy="9144"/>
          </a:xfrm>
          <a:prstGeom prst="rect">
            <a:avLst/>
          </a:prstGeom>
          <a:solidFill>
            <a:srgbClr val="20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i="0">
                <a:solidFill>
                  <a:srgbClr val="FFFFFF"/>
                </a:solidFill>
                <a:latin typeface="Segoe UI"/>
              </a:rPr>
              <a:t>KAMIK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4B8BFF"/>
                </a:solidFill>
                <a:latin typeface="Segoe UI"/>
              </a:rPr>
              <a:t>LABEL PORTAL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00400"/>
            <a:ext cx="7315200" cy="25400"/>
          </a:xfrm>
          <a:prstGeom prst="rect">
            <a:avLst/>
          </a:prstGeom>
          <a:solidFill>
            <a:srgbClr val="4B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337560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Рабочий</a:t>
            </a:r>
            <a:r>
              <a:rPr sz="24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</a:t>
            </a:r>
            <a:r>
              <a:rPr sz="24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кабинет</a:t>
            </a:r>
            <a:r>
              <a:rPr sz="24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</a:t>
            </a:r>
            <a:r>
              <a:rPr sz="24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музыкального</a:t>
            </a:r>
            <a:r>
              <a:rPr sz="24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</a:t>
            </a:r>
            <a:r>
              <a:rPr sz="24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лейбла</a:t>
            </a:r>
            <a:endParaRPr sz="2400" b="0" i="0" dirty="0">
              <a:solidFill>
                <a:schemeClr val="bg1">
                  <a:lumMod val="95000"/>
                </a:schemeClr>
              </a:solidFill>
              <a:latin typeface="Segoe U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3886200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Аналитика</a:t>
            </a:r>
            <a:r>
              <a:rPr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· </a:t>
            </a:r>
            <a:r>
              <a:rPr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Каталог</a:t>
            </a:r>
            <a:r>
              <a:rPr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· </a:t>
            </a:r>
            <a:r>
              <a:rPr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Финансы</a:t>
            </a:r>
            <a:r>
              <a:rPr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· </a:t>
            </a:r>
            <a:r>
              <a:rPr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Согласования</a:t>
            </a:r>
            <a:r>
              <a:rPr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· </a:t>
            </a:r>
            <a:r>
              <a:rPr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Синхронизации</a:t>
            </a:r>
            <a:endParaRPr b="0" i="0" dirty="0">
              <a:solidFill>
                <a:schemeClr val="bg1">
                  <a:lumMod val="95000"/>
                </a:schemeClr>
              </a:solidFill>
              <a:latin typeface="Segoe U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241280" y="6217920"/>
            <a:ext cx="1828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dirty="0">
                <a:solidFill>
                  <a:srgbClr val="586374"/>
                </a:solidFill>
                <a:latin typeface="Segoe UI"/>
              </a:rPr>
              <a:t>202</a:t>
            </a:r>
            <a:r>
              <a:rPr lang="en-US" sz="1300" b="0" i="0" dirty="0">
                <a:solidFill>
                  <a:srgbClr val="586374"/>
                </a:solidFill>
                <a:latin typeface="Segoe UI"/>
              </a:rPr>
              <a:t>6</a:t>
            </a:r>
            <a:endParaRPr sz="1300" b="0" i="0" dirty="0">
              <a:solidFill>
                <a:srgbClr val="586374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1097280" cy="25400"/>
          </a:xfrm>
          <a:prstGeom prst="rect">
            <a:avLst/>
          </a:prstGeom>
          <a:solidFill>
            <a:srgbClr val="4B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B8BFF"/>
                </a:solidFill>
                <a:latin typeface="Segoe UI"/>
              </a:rPr>
              <a:t>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7315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Как сейчас работают
лейблы с данными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79"/>
            <a:ext cx="5394960" cy="1820091"/>
          </a:xfrm>
          <a:prstGeom prst="rect">
            <a:avLst/>
          </a:prstGeom>
          <a:solidFill>
            <a:srgbClr val="10141D"/>
          </a:solidFill>
          <a:ln w="9525">
            <a:solidFill>
              <a:srgbClr val="20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670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70048"/>
            <a:ext cx="43891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FFFFFF"/>
                </a:solidFill>
                <a:latin typeface="Segoe UI"/>
              </a:rPr>
              <a:t>Отчёты</a:t>
            </a:r>
            <a:r>
              <a:rPr sz="20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Segoe UI"/>
              </a:rPr>
              <a:t>платформ</a:t>
            </a:r>
            <a:r>
              <a:rPr sz="2000" b="1" i="0" dirty="0">
                <a:solidFill>
                  <a:srgbClr val="FFFFFF"/>
                </a:solidFill>
                <a:latin typeface="Segoe UI"/>
              </a:rPr>
              <a:t> — </a:t>
            </a:r>
            <a:r>
              <a:rPr sz="2000" b="1" i="0" dirty="0" err="1">
                <a:solidFill>
                  <a:srgbClr val="FFFFFF"/>
                </a:solidFill>
                <a:latin typeface="Segoe UI"/>
              </a:rPr>
              <a:t>россыпь</a:t>
            </a:r>
            <a:r>
              <a:rPr sz="2000" b="1" i="0" dirty="0">
                <a:solidFill>
                  <a:srgbClr val="FFFFFF"/>
                </a:solidFill>
                <a:latin typeface="Segoe UI"/>
              </a:rPr>
              <a:t> Excel-</a:t>
            </a:r>
            <a:r>
              <a:rPr sz="2000" b="1" i="0" dirty="0" err="1">
                <a:solidFill>
                  <a:srgbClr val="FFFFFF"/>
                </a:solidFill>
                <a:latin typeface="Segoe UI"/>
              </a:rPr>
              <a:t>файлов</a:t>
            </a:r>
            <a:endParaRPr sz="20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25880" y="3430187"/>
            <a:ext cx="43891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Каждая</a:t>
            </a:r>
            <a:r>
              <a:rPr sz="17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</a:t>
            </a:r>
            <a:r>
              <a:rPr sz="17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платформа</a:t>
            </a:r>
            <a:r>
              <a:rPr sz="17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</a:t>
            </a:r>
            <a:r>
              <a:rPr sz="17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шлёт</a:t>
            </a:r>
            <a:r>
              <a:rPr sz="17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</a:t>
            </a:r>
            <a:r>
              <a:rPr sz="17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свой</a:t>
            </a:r>
            <a:r>
              <a:rPr sz="17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</a:t>
            </a:r>
            <a:r>
              <a:rPr sz="17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формат</a:t>
            </a:r>
            <a:r>
              <a:rPr sz="17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. </a:t>
            </a:r>
            <a:r>
              <a:rPr sz="17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Никакой</a:t>
            </a:r>
            <a:r>
              <a:rPr sz="17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</a:t>
            </a:r>
            <a:r>
              <a:rPr sz="17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единой</a:t>
            </a:r>
            <a:r>
              <a:rPr sz="17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</a:t>
            </a:r>
            <a:r>
              <a:rPr sz="17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картины</a:t>
            </a:r>
            <a:r>
              <a:rPr sz="17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534989"/>
            <a:ext cx="5394960" cy="1820091"/>
          </a:xfrm>
          <a:prstGeom prst="rect">
            <a:avLst/>
          </a:prstGeom>
          <a:solidFill>
            <a:srgbClr val="10141D"/>
          </a:solidFill>
          <a:ln w="9525">
            <a:solidFill>
              <a:srgbClr val="20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473615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736158"/>
            <a:ext cx="4389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Финансы в таблицах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5496297"/>
            <a:ext cx="43891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Баланс</a:t>
            </a:r>
            <a:r>
              <a:rPr sz="17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</a:t>
            </a:r>
            <a:r>
              <a:rPr sz="17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артиста</a:t>
            </a:r>
            <a:r>
              <a:rPr sz="17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, </a:t>
            </a:r>
            <a:r>
              <a:rPr sz="17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статус</a:t>
            </a:r>
            <a:r>
              <a:rPr sz="17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</a:t>
            </a:r>
            <a:r>
              <a:rPr sz="17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выплат</a:t>
            </a:r>
            <a:r>
              <a:rPr sz="17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и </a:t>
            </a:r>
            <a:r>
              <a:rPr sz="17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история</a:t>
            </a:r>
            <a:r>
              <a:rPr sz="17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</a:t>
            </a:r>
            <a:r>
              <a:rPr sz="17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операций</a:t>
            </a:r>
            <a:r>
              <a:rPr sz="17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</a:t>
            </a:r>
            <a:r>
              <a:rPr sz="17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живут</a:t>
            </a:r>
            <a:r>
              <a:rPr sz="17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в </a:t>
            </a:r>
            <a:r>
              <a:rPr sz="17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разных</a:t>
            </a:r>
            <a:r>
              <a:rPr sz="17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</a:t>
            </a:r>
            <a:r>
              <a:rPr sz="17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местах</a:t>
            </a:r>
            <a:r>
              <a:rPr sz="17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468879"/>
            <a:ext cx="5394960" cy="1820091"/>
          </a:xfrm>
          <a:prstGeom prst="rect">
            <a:avLst/>
          </a:prstGeom>
          <a:solidFill>
            <a:srgbClr val="10141D"/>
          </a:solidFill>
          <a:ln w="9525">
            <a:solidFill>
              <a:srgbClr val="20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2670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670048"/>
            <a:ext cx="4389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Нет прозрачности для артиста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3430187"/>
            <a:ext cx="43891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Артист не знает, сколько ему начислено и когда ждать выплату.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4534989"/>
            <a:ext cx="5394960" cy="1820091"/>
          </a:xfrm>
          <a:prstGeom prst="rect">
            <a:avLst/>
          </a:prstGeom>
          <a:solidFill>
            <a:srgbClr val="10141D"/>
          </a:solidFill>
          <a:ln w="9525">
            <a:solidFill>
              <a:srgbClr val="20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473615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4736158"/>
            <a:ext cx="43891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Согласования релизов — переписка в чатах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5496297"/>
            <a:ext cx="43891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Этапы проверки не видны ни лейблу, ни артисту в одном месте.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1097280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  <a:latin typeface="Segoe UI"/>
              </a:rPr>
              <a:t>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Единая платформа
для лейбла и артистов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14600"/>
            <a:ext cx="2606040" cy="1691640"/>
          </a:xfrm>
          <a:prstGeom prst="rect">
            <a:avLst/>
          </a:prstGeom>
          <a:solidFill>
            <a:srgbClr val="10141D"/>
          </a:solidFill>
          <a:ln w="9525">
            <a:solidFill>
              <a:srgbClr val="20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2514600"/>
            <a:ext cx="2606040" cy="54864"/>
          </a:xfrm>
          <a:prstGeom prst="rect">
            <a:avLst/>
          </a:prstGeom>
          <a:solidFill>
            <a:srgbClr val="4B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2715768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FFFFFF"/>
                </a:solidFill>
                <a:latin typeface="Segoe UI"/>
              </a:rPr>
              <a:t>Дашборд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108960"/>
            <a:ext cx="228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Доход</a:t>
            </a:r>
            <a:r>
              <a:rPr sz="16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, </a:t>
            </a:r>
            <a:r>
              <a:rPr sz="16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баланс</a:t>
            </a:r>
            <a:r>
              <a:rPr sz="16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, </a:t>
            </a:r>
            <a:r>
              <a:rPr sz="16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топ</a:t>
            </a:r>
            <a:r>
              <a:rPr sz="16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треков</a:t>
            </a:r>
            <a:r>
              <a:rPr sz="16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
и </a:t>
            </a:r>
            <a:r>
              <a:rPr sz="16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платформы</a:t>
            </a:r>
            <a:r>
              <a:rPr sz="16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в </a:t>
            </a:r>
            <a:r>
              <a:rPr sz="16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реальном</a:t>
            </a:r>
            <a:r>
              <a:rPr sz="16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времени</a:t>
            </a:r>
            <a:endParaRPr sz="1600" b="0" i="0" dirty="0">
              <a:solidFill>
                <a:schemeClr val="bg1">
                  <a:lumMod val="95000"/>
                </a:schemeClr>
              </a:solidFill>
              <a:latin typeface="Segoe U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91840" y="2514600"/>
            <a:ext cx="2606040" cy="1691640"/>
          </a:xfrm>
          <a:prstGeom prst="rect">
            <a:avLst/>
          </a:prstGeom>
          <a:solidFill>
            <a:srgbClr val="10141D"/>
          </a:solidFill>
          <a:ln w="9525">
            <a:solidFill>
              <a:srgbClr val="20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0" y="2514600"/>
            <a:ext cx="260604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56432" y="2715768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FFFFFF"/>
                </a:solidFill>
                <a:latin typeface="Segoe UI"/>
              </a:rPr>
              <a:t>Каталог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3108960"/>
            <a:ext cx="228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ISRC, статусы треков,
потрековая аналитика и экспорт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514600"/>
            <a:ext cx="2606040" cy="1691640"/>
          </a:xfrm>
          <a:prstGeom prst="rect">
            <a:avLst/>
          </a:prstGeom>
          <a:solidFill>
            <a:srgbClr val="10141D"/>
          </a:solidFill>
          <a:ln w="9525">
            <a:solidFill>
              <a:srgbClr val="20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2514600"/>
            <a:ext cx="2606040" cy="54864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91072" y="2715768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FFFFFF"/>
                </a:solidFill>
                <a:latin typeface="Segoe UI"/>
              </a:rPr>
              <a:t>Аналитика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3108960"/>
            <a:ext cx="228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Стриминги, география, RPM,
Yandex DataLens-отчёты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2514600"/>
            <a:ext cx="2606040" cy="1691640"/>
          </a:xfrm>
          <a:prstGeom prst="rect">
            <a:avLst/>
          </a:prstGeom>
          <a:solidFill>
            <a:srgbClr val="10141D"/>
          </a:solidFill>
          <a:ln w="9525">
            <a:solidFill>
              <a:srgbClr val="20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961120" y="2514600"/>
            <a:ext cx="260604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25712" y="2715768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FFFFFF"/>
                </a:solidFill>
                <a:latin typeface="Segoe UI"/>
              </a:rPr>
              <a:t>AI-инсайты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3108960"/>
            <a:ext cx="228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Риски, возможности и
приоритетные действия по каталогу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34840"/>
            <a:ext cx="2606040" cy="1691640"/>
          </a:xfrm>
          <a:prstGeom prst="rect">
            <a:avLst/>
          </a:prstGeom>
          <a:solidFill>
            <a:srgbClr val="10141D"/>
          </a:solidFill>
          <a:ln w="9525">
            <a:solidFill>
              <a:srgbClr val="20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4434840"/>
            <a:ext cx="2606040" cy="54864"/>
          </a:xfrm>
          <a:prstGeom prst="rect">
            <a:avLst/>
          </a:prstGeom>
          <a:solidFill>
            <a:srgbClr val="4B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" y="4636007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 err="1">
                <a:solidFill>
                  <a:srgbClr val="FFFFFF"/>
                </a:solidFill>
                <a:latin typeface="Segoe UI"/>
              </a:rPr>
              <a:t>Финансы</a:t>
            </a:r>
            <a:endParaRPr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1792" y="5029200"/>
            <a:ext cx="228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Баланс, история операций,
реестр выплат и реквизиты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4434840"/>
            <a:ext cx="2606040" cy="1691640"/>
          </a:xfrm>
          <a:prstGeom prst="rect">
            <a:avLst/>
          </a:prstGeom>
          <a:solidFill>
            <a:srgbClr val="10141D"/>
          </a:solidFill>
          <a:ln w="9525">
            <a:solidFill>
              <a:srgbClr val="20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91840" y="4434840"/>
            <a:ext cx="260604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56432" y="4636007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FFFFFF"/>
                </a:solidFill>
                <a:latin typeface="Segoe UI"/>
              </a:rPr>
              <a:t>Согласования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56432" y="5029200"/>
            <a:ext cx="228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Статусы релизов, этапы
проверки дистрибьютора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4434840"/>
            <a:ext cx="2606040" cy="1691640"/>
          </a:xfrm>
          <a:prstGeom prst="rect">
            <a:avLst/>
          </a:prstGeom>
          <a:solidFill>
            <a:srgbClr val="10141D"/>
          </a:solidFill>
          <a:ln w="9525">
            <a:solidFill>
              <a:srgbClr val="20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26480" y="4434840"/>
            <a:ext cx="2606040" cy="54864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91072" y="4636007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FFFFFF"/>
                </a:solidFill>
                <a:latin typeface="Segoe UI"/>
              </a:rPr>
              <a:t>Sync-кейсы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1072" y="5029200"/>
            <a:ext cx="228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Реклама, кино, сериалы —
лицензионные сборы и роялти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1120" y="4434840"/>
            <a:ext cx="2606040" cy="1691640"/>
          </a:xfrm>
          <a:prstGeom prst="rect">
            <a:avLst/>
          </a:prstGeom>
          <a:solidFill>
            <a:srgbClr val="10141D"/>
          </a:solidFill>
          <a:ln w="9525">
            <a:solidFill>
              <a:srgbClr val="20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961120" y="4434840"/>
            <a:ext cx="26060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25712" y="4636007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FFFFFF"/>
                </a:solidFill>
                <a:latin typeface="Segoe UI"/>
              </a:rPr>
              <a:t>Администратор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25712" y="5029200"/>
            <a:ext cx="228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Загрузка отчётов роялти,
управление артистами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1097280" cy="254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B308"/>
                </a:solidFill>
                <a:latin typeface="Segoe UI"/>
              </a:rPr>
              <a:t>Архитектура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Стек и инфраструктура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651760" cy="4206240"/>
          </a:xfrm>
          <a:prstGeom prst="rect">
            <a:avLst/>
          </a:prstGeom>
          <a:solidFill>
            <a:srgbClr val="10141D"/>
          </a:solidFill>
          <a:ln w="9525">
            <a:solidFill>
              <a:srgbClr val="20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2651760" cy="64008"/>
          </a:xfrm>
          <a:prstGeom prst="rect">
            <a:avLst/>
          </a:prstGeom>
          <a:solidFill>
            <a:srgbClr val="4B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2240280"/>
            <a:ext cx="2331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B8BFF"/>
                </a:solidFill>
                <a:latin typeface="Segoe U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963811"/>
            <a:ext cx="23317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React 18 · </a:t>
            </a:r>
            <a:r>
              <a:rPr sz="20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Vite</a:t>
            </a:r>
            <a:r>
              <a:rPr sz="20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6 · TypeScript · Tailwind CSS
Recharts · </a:t>
            </a:r>
            <a:r>
              <a:rPr sz="20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TanStack</a:t>
            </a:r>
            <a:r>
              <a:rPr sz="20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Query · Radix UI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2011680"/>
            <a:ext cx="2651760" cy="4206240"/>
          </a:xfrm>
          <a:prstGeom prst="rect">
            <a:avLst/>
          </a:prstGeom>
          <a:solidFill>
            <a:srgbClr val="10141D"/>
          </a:solidFill>
          <a:ln w="9525">
            <a:solidFill>
              <a:srgbClr val="20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37560" y="2011680"/>
            <a:ext cx="265176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02152" y="2240280"/>
            <a:ext cx="2331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2C55E"/>
                </a:solidFill>
                <a:latin typeface="Segoe UI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963811"/>
            <a:ext cx="23317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FastAPI · SQLAlchemy 2 · PostgreSQL 16
Alembic-миграции · REST 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011680"/>
            <a:ext cx="2651760" cy="4206240"/>
          </a:xfrm>
          <a:prstGeom prst="rect">
            <a:avLst/>
          </a:prstGeom>
          <a:solidFill>
            <a:srgbClr val="10141D"/>
          </a:solidFill>
          <a:ln w="9525">
            <a:solidFill>
              <a:srgbClr val="20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2011680"/>
            <a:ext cx="2651760" cy="6400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2240280"/>
            <a:ext cx="2331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AB308"/>
                </a:solidFill>
                <a:latin typeface="Segoe UI"/>
              </a:rPr>
              <a:t>ИНФРА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963811"/>
            <a:ext cx="23317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Docker Compose · единый .env · seed-скрипт
Swagger UI на /docs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2011680"/>
            <a:ext cx="2651760" cy="4206240"/>
          </a:xfrm>
          <a:prstGeom prst="rect">
            <a:avLst/>
          </a:prstGeom>
          <a:solidFill>
            <a:srgbClr val="10141D"/>
          </a:solidFill>
          <a:ln w="9525">
            <a:solidFill>
              <a:srgbClr val="20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098280" y="2011680"/>
            <a:ext cx="2651760" cy="640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62872" y="2240280"/>
            <a:ext cx="2331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A855F7"/>
                </a:solidFill>
                <a:latin typeface="Segoe UI"/>
              </a:rPr>
              <a:t>BI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2872" y="2963811"/>
            <a:ext cx="23317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Yandex DataLens → iframe per artist
PosgresSQL-коннектор · поле datalens_url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4023360"/>
            <a:ext cx="182880" cy="182880"/>
          </a:xfrm>
          <a:prstGeom prst="rect">
            <a:avLst/>
          </a:prstGeom>
          <a:solidFill>
            <a:srgbClr val="586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89320" y="4023360"/>
            <a:ext cx="182880" cy="182880"/>
          </a:xfrm>
          <a:prstGeom prst="rect">
            <a:avLst/>
          </a:prstGeom>
          <a:solidFill>
            <a:srgbClr val="586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869680" y="4023360"/>
            <a:ext cx="182880" cy="182880"/>
          </a:xfrm>
          <a:prstGeom prst="rect">
            <a:avLst/>
          </a:prstGeom>
          <a:solidFill>
            <a:srgbClr val="586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1097280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  <a:latin typeface="Segoe UI"/>
              </a:rPr>
              <a:t>Данные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От файла платформы
до цифры в ЛК артиста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606040"/>
            <a:ext cx="1920240" cy="1280160"/>
          </a:xfrm>
          <a:prstGeom prst="rect">
            <a:avLst/>
          </a:prstGeom>
          <a:solidFill>
            <a:srgbClr val="10141D"/>
          </a:solidFill>
          <a:ln w="9525">
            <a:solidFill>
              <a:srgbClr val="4B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2926080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B8BFF"/>
                </a:solidFill>
                <a:latin typeface="Segoe UI"/>
              </a:rPr>
              <a:t>CSV / XLSX
платформы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41448" y="3017520"/>
            <a:ext cx="292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86374"/>
                </a:solidFill>
                <a:latin typeface="Segoe U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606040"/>
            <a:ext cx="1920240" cy="1280160"/>
          </a:xfrm>
          <a:prstGeom prst="rect">
            <a:avLst/>
          </a:prstGeom>
          <a:solidFill>
            <a:srgbClr val="10141D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07792" y="2926080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C55E"/>
                </a:solidFill>
                <a:latin typeface="Segoe UI"/>
              </a:rPr>
              <a:t>Загрузка
админом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3017520"/>
            <a:ext cx="292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86374"/>
                </a:solidFill>
                <a:latin typeface="Segoe U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80" y="2606040"/>
            <a:ext cx="1920240" cy="1280160"/>
          </a:xfrm>
          <a:prstGeom prst="rect">
            <a:avLst/>
          </a:prstGeom>
          <a:solidFill>
            <a:srgbClr val="10141D"/>
          </a:solidFill>
          <a:ln w="9525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48072" y="2926080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AB308"/>
                </a:solidFill>
                <a:latin typeface="Segoe UI"/>
              </a:rPr>
              <a:t>Парсинг
и валидация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8" y="3017520"/>
            <a:ext cx="292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86374"/>
                </a:solidFill>
                <a:latin typeface="Segoe U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2606040"/>
            <a:ext cx="1920240" cy="1280160"/>
          </a:xfrm>
          <a:prstGeom prst="rect">
            <a:avLst/>
          </a:prstGeom>
          <a:solidFill>
            <a:srgbClr val="10141D"/>
          </a:solidFill>
          <a:ln w="9525">
            <a:solidFill>
              <a:srgbClr val="4B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88352" y="2926080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B8BFF"/>
                </a:solidFill>
                <a:latin typeface="Segoe UI"/>
              </a:rPr>
              <a:t>PostgreSQL
база данных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62288" y="3017520"/>
            <a:ext cx="292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86374"/>
                </a:solidFill>
                <a:latin typeface="Segoe U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64040" y="2606040"/>
            <a:ext cx="1920240" cy="1280160"/>
          </a:xfrm>
          <a:prstGeom prst="rect">
            <a:avLst/>
          </a:prstGeom>
          <a:solidFill>
            <a:srgbClr val="10141D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28632" y="2926080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C55E"/>
                </a:solidFill>
                <a:latin typeface="Segoe UI"/>
              </a:rPr>
              <a:t>ЛК артиста
в реальном времени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519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Что происходит при импорте</a:t>
            </a:r>
          </a:p>
        </p:txBody>
      </p:sp>
      <p:sp>
        <p:nvSpPr>
          <p:cNvPr id="20" name="Oval 19"/>
          <p:cNvSpPr/>
          <p:nvPr/>
        </p:nvSpPr>
        <p:spPr>
          <a:xfrm>
            <a:off x="740664" y="4863719"/>
            <a:ext cx="73152" cy="7315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47274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Обязательные колонки — ISRC, платформа, период, стримы, доход</a:t>
            </a:r>
          </a:p>
        </p:txBody>
      </p:sp>
      <p:sp>
        <p:nvSpPr>
          <p:cNvPr id="22" name="Oval 21"/>
          <p:cNvSpPr/>
          <p:nvPr/>
        </p:nvSpPr>
        <p:spPr>
          <a:xfrm>
            <a:off x="740664" y="5256911"/>
            <a:ext cx="73152" cy="7315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512064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Автоматическое сопоставление трека и артиста по ISRC</a:t>
            </a:r>
          </a:p>
        </p:txBody>
      </p:sp>
      <p:sp>
        <p:nvSpPr>
          <p:cNvPr id="24" name="Oval 23"/>
          <p:cNvSpPr/>
          <p:nvPr/>
        </p:nvSpPr>
        <p:spPr>
          <a:xfrm>
            <a:off x="740664" y="5650103"/>
            <a:ext cx="73152" cy="7315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551383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Расчёт доли артиста и лейбла по заданному проценту</a:t>
            </a:r>
          </a:p>
        </p:txBody>
      </p:sp>
      <p:sp>
        <p:nvSpPr>
          <p:cNvPr id="26" name="Oval 25"/>
          <p:cNvSpPr/>
          <p:nvPr/>
        </p:nvSpPr>
        <p:spPr>
          <a:xfrm>
            <a:off x="740664" y="6043295"/>
            <a:ext cx="73152" cy="7315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590702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Идемпотентность — повторная загрузка не создаёт дублей</a:t>
            </a:r>
          </a:p>
        </p:txBody>
      </p:sp>
      <p:sp>
        <p:nvSpPr>
          <p:cNvPr id="28" name="Oval 27"/>
          <p:cNvSpPr/>
          <p:nvPr/>
        </p:nvSpPr>
        <p:spPr>
          <a:xfrm>
            <a:off x="740664" y="6436487"/>
            <a:ext cx="73152" cy="7315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63002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Мгновенное отражение в Балансе, Выплатах и Аналитике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1097280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  <a:latin typeface="Segoe UI"/>
              </a:rPr>
              <a:t>Финансы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Баланс и выплаты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65960"/>
            <a:ext cx="5486400" cy="4480560"/>
          </a:xfrm>
          <a:prstGeom prst="rect">
            <a:avLst/>
          </a:prstGeom>
          <a:solidFill>
            <a:srgbClr val="10141D"/>
          </a:solidFill>
          <a:ln w="9525">
            <a:solidFill>
              <a:srgbClr val="20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Segoe UI"/>
              </a:rPr>
              <a:t>Баланс</a:t>
            </a:r>
            <a:endParaRPr sz="24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2697480"/>
            <a:ext cx="5029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История всех транзакций артиста.
Доходы от роялти, выплаты, корректировки.
Фильтрация по типу и периоду.
Экспорт в CSV одной кнопкой.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206240"/>
            <a:ext cx="4846320" cy="25400"/>
          </a:xfrm>
          <a:prstGeom prst="rect">
            <a:avLst/>
          </a:prstGeom>
          <a:solidFill>
            <a:srgbClr val="20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438912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C55E"/>
                </a:solidFill>
                <a:latin typeface="Segoe UI"/>
              </a:rP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370832"/>
            <a:ext cx="164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FFFFFF"/>
                </a:solidFill>
                <a:latin typeface="Segoe UI"/>
              </a:rPr>
              <a:t>Начислено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41401" y="4367838"/>
            <a:ext cx="3017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A5ADBA"/>
                </a:solidFill>
                <a:latin typeface="Segoe UI"/>
              </a:rPr>
              <a:t>Доход</a:t>
            </a:r>
            <a:r>
              <a:rPr sz="1600" b="0" i="0" dirty="0">
                <a:solidFill>
                  <a:srgbClr val="A5ADBA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A5ADBA"/>
                </a:solidFill>
                <a:latin typeface="Segoe UI"/>
              </a:rPr>
              <a:t>от</a:t>
            </a:r>
            <a:r>
              <a:rPr sz="1600" b="0" i="0" dirty="0">
                <a:solidFill>
                  <a:srgbClr val="A5ADBA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A5ADBA"/>
                </a:solidFill>
                <a:latin typeface="Segoe UI"/>
              </a:rPr>
              <a:t>стримингов</a:t>
            </a:r>
            <a:endParaRPr sz="1600" b="0" i="0" dirty="0">
              <a:solidFill>
                <a:srgbClr val="A5ADBA"/>
              </a:solidFill>
              <a:latin typeface="Segoe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489204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AB308"/>
                </a:solidFill>
                <a:latin typeface="Segoe UI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873752"/>
            <a:ext cx="164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FFFFFF"/>
                </a:solidFill>
                <a:latin typeface="Segoe UI"/>
              </a:rPr>
              <a:t>К выплате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1401" y="4870758"/>
            <a:ext cx="3017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5ADBA"/>
                </a:solidFill>
                <a:latin typeface="Segoe UI"/>
              </a:rPr>
              <a:t>Ожидает перевода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9496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B8BFF"/>
                </a:solidFill>
                <a:latin typeface="Segoe UI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376672"/>
            <a:ext cx="164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FFFFFF"/>
                </a:solidFill>
                <a:latin typeface="Segoe UI"/>
              </a:rPr>
              <a:t>Выплачено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41401" y="5373678"/>
            <a:ext cx="3017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5ADBA"/>
                </a:solidFill>
                <a:latin typeface="Segoe UI"/>
              </a:rPr>
              <a:t>Переведено артисту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965960"/>
            <a:ext cx="5486400" cy="4480560"/>
          </a:xfrm>
          <a:prstGeom prst="rect">
            <a:avLst/>
          </a:prstGeom>
          <a:solidFill>
            <a:srgbClr val="10141D"/>
          </a:solidFill>
          <a:ln w="9525">
            <a:solidFill>
              <a:srgbClr val="20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2148840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Segoe UI"/>
              </a:rPr>
              <a:t>Выплаты</a:t>
            </a:r>
            <a:endParaRPr sz="24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92240" y="2697480"/>
            <a:ext cx="5029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Реестр платежей со статусами.
Детальная карточка каждой выплаты.
Редактирование банковских реквизитов.
Экспорт реестра в PDF/CSV.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4206240"/>
            <a:ext cx="4846320" cy="25400"/>
          </a:xfrm>
          <a:prstGeom prst="rect">
            <a:avLst/>
          </a:prstGeom>
          <a:solidFill>
            <a:srgbClr val="20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438912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AB308"/>
                </a:solidFill>
                <a:latin typeface="Segoe UI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370832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FFFFFF"/>
                </a:solidFill>
                <a:latin typeface="Segoe UI"/>
              </a:rPr>
              <a:t>На согласовании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4367838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5ADBA"/>
                </a:solidFill>
                <a:latin typeface="Segoe UI"/>
              </a:rPr>
              <a:t>Ожидает подписи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89204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B8BFF"/>
                </a:solidFill>
                <a:latin typeface="Segoe UI"/>
              </a:rPr>
              <a:t>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873752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FFFFFF"/>
                </a:solidFill>
                <a:latin typeface="Segoe UI"/>
              </a:rPr>
              <a:t>Готово к переводу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4870758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5ADBA"/>
                </a:solidFill>
                <a:latin typeface="Segoe UI"/>
              </a:rPr>
              <a:t>Реквизиты проверены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39496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C55E"/>
                </a:solidFill>
                <a:latin typeface="Segoe UI"/>
              </a:rPr>
              <a:t>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5376672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FFFFFF"/>
                </a:solidFill>
                <a:latin typeface="Segoe UI"/>
              </a:rPr>
              <a:t>Выплачено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5373678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A5ADBA"/>
                </a:solidFill>
                <a:latin typeface="Segoe UI"/>
              </a:rPr>
              <a:t>Перевод</a:t>
            </a:r>
            <a:r>
              <a:rPr sz="1600" b="0" i="0" dirty="0">
                <a:solidFill>
                  <a:srgbClr val="A5ADBA"/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rgbClr val="A5ADBA"/>
                </a:solidFill>
                <a:latin typeface="Segoe UI"/>
              </a:rPr>
              <a:t>выполнен</a:t>
            </a:r>
            <a:endParaRPr sz="1600" b="0" i="0" dirty="0">
              <a:solidFill>
                <a:srgbClr val="A5ADBA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1097280" cy="254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B308"/>
                </a:solidFill>
                <a:latin typeface="Segoe UI"/>
              </a:rPr>
              <a:t>Аналитика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Данные, которые
помогают принимать решения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60320"/>
            <a:ext cx="3566160" cy="1691640"/>
          </a:xfrm>
          <a:prstGeom prst="rect">
            <a:avLst/>
          </a:prstGeom>
          <a:solidFill>
            <a:srgbClr val="10141D"/>
          </a:solidFill>
          <a:ln w="9525">
            <a:solidFill>
              <a:srgbClr val="20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3566160" cy="54864"/>
          </a:xfrm>
          <a:prstGeom prst="rect">
            <a:avLst/>
          </a:prstGeom>
          <a:solidFill>
            <a:srgbClr val="4B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B8BFF"/>
                </a:solidFill>
                <a:latin typeface="Segoe UI"/>
              </a:rPr>
              <a:t>Стековый бар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79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5ADBA"/>
                </a:solidFill>
                <a:latin typeface="Segoe UI"/>
              </a:rPr>
              <a:t>Доход по платформам
по периодам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2560320"/>
            <a:ext cx="3566160" cy="1691640"/>
          </a:xfrm>
          <a:prstGeom prst="rect">
            <a:avLst/>
          </a:prstGeom>
          <a:solidFill>
            <a:srgbClr val="10141D"/>
          </a:solidFill>
          <a:ln w="9525">
            <a:solidFill>
              <a:srgbClr val="20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51960" y="2560320"/>
            <a:ext cx="356616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C55E"/>
                </a:solidFill>
                <a:latin typeface="Segoe UI"/>
              </a:rPr>
              <a:t>Area chart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154679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5ADBA"/>
                </a:solidFill>
                <a:latin typeface="Segoe UI"/>
              </a:rPr>
              <a:t>Накопленный доход
за всё время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560320"/>
            <a:ext cx="3566160" cy="1691640"/>
          </a:xfrm>
          <a:prstGeom prst="rect">
            <a:avLst/>
          </a:prstGeom>
          <a:solidFill>
            <a:srgbClr val="10141D"/>
          </a:solidFill>
          <a:ln w="9525">
            <a:solidFill>
              <a:srgbClr val="20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2560320"/>
            <a:ext cx="3566160" cy="54864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AB308"/>
                </a:solidFill>
                <a:latin typeface="Segoe UI"/>
              </a:rPr>
              <a:t>Radar chart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154679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5ADBA"/>
                </a:solidFill>
                <a:latin typeface="Segoe UI"/>
              </a:rPr>
              <a:t>Профиль платформ:
стримы vs доход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80560"/>
            <a:ext cx="3566160" cy="1691640"/>
          </a:xfrm>
          <a:prstGeom prst="rect">
            <a:avLst/>
          </a:prstGeom>
          <a:solidFill>
            <a:srgbClr val="10141D"/>
          </a:solidFill>
          <a:ln w="9525">
            <a:solidFill>
              <a:srgbClr val="20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4480560"/>
            <a:ext cx="356616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663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855F7"/>
                </a:solidFill>
                <a:latin typeface="Segoe UI"/>
              </a:rPr>
              <a:t>Horizontal bar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07492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5ADBA"/>
                </a:solidFill>
                <a:latin typeface="Segoe UI"/>
              </a:rPr>
              <a:t>RPM по каждой
платформе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4480560"/>
            <a:ext cx="3566160" cy="1691640"/>
          </a:xfrm>
          <a:prstGeom prst="rect">
            <a:avLst/>
          </a:prstGeom>
          <a:solidFill>
            <a:srgbClr val="10141D"/>
          </a:solidFill>
          <a:ln w="9525">
            <a:solidFill>
              <a:srgbClr val="20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51960" y="4480560"/>
            <a:ext cx="3566160" cy="54864"/>
          </a:xfrm>
          <a:prstGeom prst="rect">
            <a:avLst/>
          </a:prstGeom>
          <a:solidFill>
            <a:srgbClr val="4B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34840" y="4663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B8BFF"/>
                </a:solidFill>
                <a:latin typeface="Segoe UI"/>
              </a:rPr>
              <a:t>Donut chart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507492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5ADBA"/>
                </a:solidFill>
                <a:latin typeface="Segoe UI"/>
              </a:rPr>
              <a:t>Доля платформ
за период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4480560"/>
            <a:ext cx="3566160" cy="1691640"/>
          </a:xfrm>
          <a:prstGeom prst="rect">
            <a:avLst/>
          </a:prstGeom>
          <a:solidFill>
            <a:srgbClr val="10141D"/>
          </a:solidFill>
          <a:ln w="9525">
            <a:solidFill>
              <a:srgbClr val="20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46720" y="4480560"/>
            <a:ext cx="356616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0" y="4663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C55E"/>
                </a:solidFill>
                <a:latin typeface="Segoe UI"/>
              </a:rPr>
              <a:t>Geo bars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07492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5ADBA"/>
                </a:solidFill>
                <a:latin typeface="Segoe UI"/>
              </a:rPr>
              <a:t>Топ стран по
прослушиваниям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52560" y="5989320"/>
            <a:ext cx="2743200" cy="731520"/>
          </a:xfrm>
          <a:prstGeom prst="rect">
            <a:avLst/>
          </a:prstGeom>
          <a:solidFill>
            <a:srgbClr val="0F1622"/>
          </a:solidFill>
          <a:ln w="9525">
            <a:solidFill>
              <a:srgbClr val="4B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89720" y="60807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B8BFF"/>
                </a:solidFill>
                <a:latin typeface="Segoe UI"/>
              </a:rPr>
              <a:t>Yandex DataLens iframe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1097280" cy="25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855F7"/>
                </a:solidFill>
                <a:latin typeface="Segoe UI"/>
              </a:rPr>
              <a:t>AI-инсайты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42167"/>
            <a:ext cx="111831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 dirty="0" err="1">
                <a:solidFill>
                  <a:srgbClr val="FFFFFF"/>
                </a:solidFill>
                <a:latin typeface="Segoe UI"/>
              </a:rPr>
              <a:t>Умный</a:t>
            </a:r>
            <a:r>
              <a:rPr sz="40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4000" b="1" i="0" dirty="0" err="1">
                <a:solidFill>
                  <a:srgbClr val="FFFFFF"/>
                </a:solidFill>
                <a:latin typeface="Segoe UI"/>
              </a:rPr>
              <a:t>ассистент</a:t>
            </a:r>
            <a:r>
              <a:rPr lang="en-US" sz="400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sz="4000" b="1" i="0" dirty="0" err="1">
                <a:solidFill>
                  <a:srgbClr val="FFFFFF"/>
                </a:solidFill>
                <a:latin typeface="Segoe UI"/>
              </a:rPr>
              <a:t>по</a:t>
            </a:r>
            <a:r>
              <a:rPr sz="40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4000" b="1" i="0" dirty="0" err="1">
                <a:solidFill>
                  <a:srgbClr val="FFFFFF"/>
                </a:solidFill>
                <a:latin typeface="Segoe UI"/>
              </a:rPr>
              <a:t>каталогу</a:t>
            </a:r>
            <a:endParaRPr sz="40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2560320"/>
            <a:ext cx="3566160" cy="2743200"/>
          </a:xfrm>
          <a:prstGeom prst="rect">
            <a:avLst/>
          </a:prstGeom>
          <a:solidFill>
            <a:srgbClr val="10141D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356616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2788920"/>
            <a:ext cx="31638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 err="1">
                <a:solidFill>
                  <a:srgbClr val="22C55E"/>
                </a:solidFill>
                <a:latin typeface="Segoe UI"/>
              </a:rPr>
              <a:t>Возможности</a:t>
            </a:r>
            <a:endParaRPr sz="2400" b="1" i="0" dirty="0">
              <a:solidFill>
                <a:srgbClr val="22C55E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3337560"/>
            <a:ext cx="316382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Треки</a:t>
            </a:r>
            <a:r>
              <a:rPr sz="20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с </a:t>
            </a:r>
            <a:r>
              <a:rPr sz="20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потенциалом</a:t>
            </a:r>
            <a:r>
              <a:rPr sz="20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</a:t>
            </a:r>
            <a:r>
              <a:rPr sz="20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роста</a:t>
            </a:r>
            <a:r>
              <a:rPr sz="20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,
</a:t>
            </a:r>
            <a:r>
              <a:rPr sz="20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недостаточным</a:t>
            </a:r>
            <a:r>
              <a:rPr sz="20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</a:t>
            </a:r>
            <a:r>
              <a:rPr sz="20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промо</a:t>
            </a:r>
            <a:r>
              <a:rPr sz="20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</a:t>
            </a:r>
            <a:r>
              <a:rPr sz="20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или</a:t>
            </a:r>
            <a:r>
              <a:rPr sz="20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
</a:t>
            </a:r>
            <a:r>
              <a:rPr sz="20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аномальным</a:t>
            </a:r>
            <a:r>
              <a:rPr sz="20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RPM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2560320"/>
            <a:ext cx="3566160" cy="2743200"/>
          </a:xfrm>
          <a:prstGeom prst="rect">
            <a:avLst/>
          </a:prstGeom>
          <a:solidFill>
            <a:srgbClr val="10141D"/>
          </a:solidFill>
          <a:ln w="9525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51960" y="2560320"/>
            <a:ext cx="3566160" cy="6400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53128" y="2788920"/>
            <a:ext cx="31638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AB308"/>
                </a:solidFill>
                <a:latin typeface="Segoe UI"/>
              </a:rPr>
              <a:t>Риски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3337560"/>
            <a:ext cx="316382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Падающая динамика,
концентрация на одной
платформе, устаревший каталог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560320"/>
            <a:ext cx="3566160" cy="2743200"/>
          </a:xfrm>
          <a:prstGeom prst="rect">
            <a:avLst/>
          </a:prstGeom>
          <a:solidFill>
            <a:srgbClr val="10141D"/>
          </a:solidFill>
          <a:ln w="9525">
            <a:solidFill>
              <a:srgbClr val="4B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2560320"/>
            <a:ext cx="3566160" cy="64008"/>
          </a:xfrm>
          <a:prstGeom prst="rect">
            <a:avLst/>
          </a:prstGeom>
          <a:solidFill>
            <a:srgbClr val="4B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2788920"/>
            <a:ext cx="31638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4B8BFF"/>
                </a:solidFill>
                <a:latin typeface="Segoe UI"/>
              </a:rPr>
              <a:t>Действия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3337560"/>
            <a:ext cx="31638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Конкретные шаги:
куда добавить трек,
что продвигать сейчас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577840"/>
            <a:ext cx="11274552" cy="960120"/>
          </a:xfrm>
          <a:prstGeom prst="rect">
            <a:avLst/>
          </a:prstGeom>
          <a:solidFill>
            <a:srgbClr val="0B0F16"/>
          </a:solidFill>
          <a:ln w="9525">
            <a:solidFill>
              <a:srgbClr val="20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571500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Каждый</a:t>
            </a:r>
            <a:r>
              <a:rPr sz="16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инсайт</a:t>
            </a:r>
            <a:r>
              <a:rPr sz="16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содержит</a:t>
            </a:r>
            <a:r>
              <a:rPr sz="16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метрику</a:t>
            </a:r>
            <a:r>
              <a:rPr sz="16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, </a:t>
            </a:r>
            <a:r>
              <a:rPr sz="16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уровень</a:t>
            </a:r>
            <a:r>
              <a:rPr sz="16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уверенности</a:t>
            </a:r>
            <a:r>
              <a:rPr sz="16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и </a:t>
            </a:r>
            <a:r>
              <a:rPr sz="16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конкретное</a:t>
            </a:r>
            <a:r>
              <a:rPr sz="16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значение</a:t>
            </a:r>
            <a:r>
              <a:rPr sz="16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03504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Раздел</a:t>
            </a:r>
            <a:r>
              <a:rPr sz="16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«</a:t>
            </a:r>
            <a:r>
              <a:rPr sz="16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Фокус</a:t>
            </a:r>
            <a:r>
              <a:rPr sz="16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недели</a:t>
            </a:r>
            <a:r>
              <a:rPr sz="16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» — </a:t>
            </a:r>
            <a:r>
              <a:rPr sz="16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главный</a:t>
            </a:r>
            <a:r>
              <a:rPr sz="16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трек</a:t>
            </a:r>
            <a:r>
              <a:rPr sz="16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для</a:t>
            </a:r>
            <a:r>
              <a:rPr sz="16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промо</a:t>
            </a:r>
            <a:r>
              <a:rPr sz="16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и </a:t>
            </a:r>
            <a:r>
              <a:rPr sz="16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ключевая</a:t>
            </a:r>
            <a:r>
              <a:rPr sz="16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платформа</a:t>
            </a:r>
            <a:r>
              <a:rPr sz="16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для</a:t>
            </a:r>
            <a:r>
              <a:rPr sz="16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</a:t>
            </a:r>
            <a:r>
              <a:rPr sz="16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контроля</a:t>
            </a:r>
            <a:r>
              <a:rPr sz="1600" b="0" i="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1097280" cy="25400"/>
          </a:xfrm>
          <a:prstGeom prst="rect">
            <a:avLst/>
          </a:prstGeom>
          <a:solidFill>
            <a:srgbClr val="4B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B8BFF"/>
                </a:solidFill>
                <a:latin typeface="Segoe UI"/>
              </a:rPr>
              <a:t>Операции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Согласования релизов
и синхронизации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468880"/>
            <a:ext cx="5486400" cy="4114800"/>
          </a:xfrm>
          <a:prstGeom prst="rect">
            <a:avLst/>
          </a:prstGeom>
          <a:solidFill>
            <a:srgbClr val="10141D"/>
          </a:solidFill>
          <a:ln w="9525">
            <a:solidFill>
              <a:srgbClr val="20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Согласования</a:t>
            </a:r>
          </a:p>
        </p:txBody>
      </p:sp>
      <p:sp>
        <p:nvSpPr>
          <p:cNvPr id="7" name="Oval 6"/>
          <p:cNvSpPr/>
          <p:nvPr/>
        </p:nvSpPr>
        <p:spPr>
          <a:xfrm>
            <a:off x="786384" y="3300984"/>
            <a:ext cx="73152" cy="7315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323697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Загрузка материала</a:t>
            </a:r>
          </a:p>
        </p:txBody>
      </p:sp>
      <p:sp>
        <p:nvSpPr>
          <p:cNvPr id="9" name="Oval 8"/>
          <p:cNvSpPr/>
          <p:nvPr/>
        </p:nvSpPr>
        <p:spPr>
          <a:xfrm>
            <a:off x="786384" y="3730752"/>
            <a:ext cx="73152" cy="73152"/>
          </a:xfrm>
          <a:prstGeom prst="ellipse">
            <a:avLst/>
          </a:prstGeom>
          <a:solidFill>
            <a:srgbClr val="4B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66674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Мастеринг и QC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4160520"/>
            <a:ext cx="73152" cy="73152"/>
          </a:xfrm>
          <a:prstGeom prst="ellipse">
            <a:avLst/>
          </a:prstGeom>
          <a:solidFill>
            <a:srgbClr val="4B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09651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Согласование лейбла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" y="4590288"/>
            <a:ext cx="73152" cy="73152"/>
          </a:xfrm>
          <a:prstGeom prst="ellipse">
            <a:avLst/>
          </a:prstGeom>
          <a:solidFill>
            <a:srgbClr val="586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526280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Отправка дистрибьютору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" y="5020055"/>
            <a:ext cx="73152" cy="73152"/>
          </a:xfrm>
          <a:prstGeom prst="ellipse">
            <a:avLst/>
          </a:prstGeom>
          <a:solidFill>
            <a:srgbClr val="586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4956048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chemeClr val="bg1">
                    <a:lumMod val="95000"/>
                  </a:schemeClr>
                </a:solidFill>
                <a:latin typeface="Segoe UI"/>
              </a:rPr>
              <a:t>Проверка платформами</a:t>
            </a:r>
          </a:p>
        </p:txBody>
      </p:sp>
      <p:sp>
        <p:nvSpPr>
          <p:cNvPr id="17" name="Oval 16"/>
          <p:cNvSpPr/>
          <p:nvPr/>
        </p:nvSpPr>
        <p:spPr>
          <a:xfrm>
            <a:off x="786384" y="5449824"/>
            <a:ext cx="73152" cy="73152"/>
          </a:xfrm>
          <a:prstGeom prst="ellipse">
            <a:avLst/>
          </a:prstGeom>
          <a:solidFill>
            <a:srgbClr val="586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385816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Публикация</a:t>
            </a:r>
            <a:endParaRPr sz="1300" b="0" i="0" dirty="0">
              <a:solidFill>
                <a:schemeClr val="bg1">
                  <a:lumMod val="95000"/>
                </a:schemeClr>
              </a:solidFill>
              <a:latin typeface="Segoe U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5800" y="5933128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chemeClr val="bg1">
                    <a:lumMod val="75000"/>
                  </a:schemeClr>
                </a:solidFill>
                <a:latin typeface="Segoe UI"/>
              </a:rPr>
              <a:t>Мастер-детальный</a:t>
            </a:r>
            <a:r>
              <a:rPr sz="1400" b="0" i="0" dirty="0">
                <a:solidFill>
                  <a:schemeClr val="bg1">
                    <a:lumMod val="75000"/>
                  </a:schemeClr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chemeClr val="bg1">
                    <a:lumMod val="75000"/>
                  </a:schemeClr>
                </a:solidFill>
                <a:latin typeface="Segoe UI"/>
              </a:rPr>
              <a:t>интерфейс</a:t>
            </a:r>
            <a:r>
              <a:rPr sz="1400" b="0" i="0" dirty="0">
                <a:solidFill>
                  <a:schemeClr val="bg1">
                    <a:lumMod val="75000"/>
                  </a:schemeClr>
                </a:solidFill>
                <a:latin typeface="Segoe UI"/>
              </a:rPr>
              <a:t> · </a:t>
            </a:r>
            <a:r>
              <a:rPr sz="1400" b="0" i="0" dirty="0" err="1">
                <a:solidFill>
                  <a:schemeClr val="bg1">
                    <a:lumMod val="75000"/>
                  </a:schemeClr>
                </a:solidFill>
                <a:latin typeface="Segoe UI"/>
              </a:rPr>
              <a:t>Фильтр</a:t>
            </a:r>
            <a:r>
              <a:rPr sz="1400" b="0" i="0" dirty="0">
                <a:solidFill>
                  <a:schemeClr val="bg1">
                    <a:lumMod val="75000"/>
                  </a:schemeClr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chemeClr val="bg1">
                    <a:lumMod val="75000"/>
                  </a:schemeClr>
                </a:solidFill>
                <a:latin typeface="Segoe UI"/>
              </a:rPr>
              <a:t>по</a:t>
            </a:r>
            <a:r>
              <a:rPr sz="1400" b="0" i="0" dirty="0">
                <a:solidFill>
                  <a:schemeClr val="bg1">
                    <a:lumMod val="75000"/>
                  </a:schemeClr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chemeClr val="bg1">
                    <a:lumMod val="75000"/>
                  </a:schemeClr>
                </a:solidFill>
                <a:latin typeface="Segoe UI"/>
              </a:rPr>
              <a:t>статусу</a:t>
            </a:r>
            <a:r>
              <a:rPr sz="1400" b="0" i="0" dirty="0">
                <a:solidFill>
                  <a:schemeClr val="bg1">
                    <a:lumMod val="75000"/>
                  </a:schemeClr>
                </a:solidFill>
                <a:latin typeface="Segoe UI"/>
              </a:rPr>
              <a:t> · </a:t>
            </a:r>
            <a:r>
              <a:rPr sz="1400" b="0" i="0" dirty="0" err="1">
                <a:solidFill>
                  <a:schemeClr val="bg1">
                    <a:lumMod val="75000"/>
                  </a:schemeClr>
                </a:solidFill>
                <a:latin typeface="Segoe UI"/>
              </a:rPr>
              <a:t>Создание</a:t>
            </a:r>
            <a:r>
              <a:rPr sz="1400" b="0" i="0" dirty="0">
                <a:solidFill>
                  <a:schemeClr val="bg1">
                    <a:lumMod val="75000"/>
                  </a:schemeClr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chemeClr val="bg1">
                    <a:lumMod val="75000"/>
                  </a:schemeClr>
                </a:solidFill>
                <a:latin typeface="Segoe UI"/>
              </a:rPr>
              <a:t>нового</a:t>
            </a:r>
            <a:r>
              <a:rPr sz="1400" b="0" i="0" dirty="0">
                <a:solidFill>
                  <a:schemeClr val="bg1">
                    <a:lumMod val="75000"/>
                  </a:schemeClr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chemeClr val="bg1">
                    <a:lumMod val="75000"/>
                  </a:schemeClr>
                </a:solidFill>
                <a:latin typeface="Segoe UI"/>
              </a:rPr>
              <a:t>релиза</a:t>
            </a:r>
            <a:endParaRPr sz="1400" b="0" i="0" dirty="0">
              <a:solidFill>
                <a:schemeClr val="bg1">
                  <a:lumMod val="75000"/>
                </a:schemeClr>
              </a:solidFill>
              <a:latin typeface="Segoe U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263640" y="2468880"/>
            <a:ext cx="5486400" cy="4114800"/>
          </a:xfrm>
          <a:prstGeom prst="rect">
            <a:avLst/>
          </a:prstGeom>
          <a:solidFill>
            <a:srgbClr val="10141D"/>
          </a:solidFill>
          <a:ln w="9525">
            <a:solidFill>
              <a:srgbClr val="20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2651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Синхронизации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3375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Segoe UI"/>
              </a:rPr>
              <a:t>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33756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Кино и сериалы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368503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ADBA"/>
                </a:solidFill>
                <a:latin typeface="Segoe UI"/>
              </a:rPr>
              <a:t>Лицензионный сбор + роялти со стримингов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14223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Segoe UI"/>
              </a:rPr>
              <a:t>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414223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Реклама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448970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ADBA"/>
                </a:solidFill>
                <a:latin typeface="Segoe UI"/>
              </a:rPr>
              <a:t>Разовая выплата за использование трека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94690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Segoe UI"/>
              </a:rPr>
              <a:t>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494690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Игры и приложения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5294376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ADBA"/>
                </a:solidFill>
                <a:latin typeface="Segoe UI"/>
              </a:rPr>
              <a:t>Договорная лицензия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933128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chemeClr val="bg1">
                    <a:lumMod val="75000"/>
                  </a:schemeClr>
                </a:solidFill>
                <a:latin typeface="Segoe UI"/>
              </a:rPr>
              <a:t>Лицензионные</a:t>
            </a:r>
            <a:r>
              <a:rPr sz="1400" b="0" i="0" dirty="0">
                <a:solidFill>
                  <a:schemeClr val="bg1">
                    <a:lumMod val="75000"/>
                  </a:schemeClr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chemeClr val="bg1">
                    <a:lumMod val="75000"/>
                  </a:schemeClr>
                </a:solidFill>
                <a:latin typeface="Segoe UI"/>
              </a:rPr>
              <a:t>сборы</a:t>
            </a:r>
            <a:r>
              <a:rPr sz="1400" b="0" i="0" dirty="0">
                <a:solidFill>
                  <a:schemeClr val="bg1">
                    <a:lumMod val="75000"/>
                  </a:schemeClr>
                </a:solidFill>
                <a:latin typeface="Segoe UI"/>
              </a:rPr>
              <a:t> · </a:t>
            </a:r>
            <a:r>
              <a:rPr sz="1400" b="0" i="0" dirty="0" err="1">
                <a:solidFill>
                  <a:schemeClr val="bg1">
                    <a:lumMod val="75000"/>
                  </a:schemeClr>
                </a:solidFill>
                <a:latin typeface="Segoe UI"/>
              </a:rPr>
              <a:t>Статусы</a:t>
            </a:r>
            <a:r>
              <a:rPr sz="1400" b="0" i="0" dirty="0">
                <a:solidFill>
                  <a:schemeClr val="bg1">
                    <a:lumMod val="75000"/>
                  </a:schemeClr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chemeClr val="bg1">
                    <a:lumMod val="75000"/>
                  </a:schemeClr>
                </a:solidFill>
                <a:latin typeface="Segoe UI"/>
              </a:rPr>
              <a:t>кейсов</a:t>
            </a:r>
            <a:r>
              <a:rPr sz="1400" b="0" i="0" dirty="0">
                <a:solidFill>
                  <a:schemeClr val="bg1">
                    <a:lumMod val="75000"/>
                  </a:schemeClr>
                </a:solidFill>
                <a:latin typeface="Segoe UI"/>
              </a:rPr>
              <a:t> · </a:t>
            </a:r>
            <a:r>
              <a:rPr sz="1400" b="0" i="0" dirty="0" err="1">
                <a:solidFill>
                  <a:schemeClr val="bg1">
                    <a:lumMod val="75000"/>
                  </a:schemeClr>
                </a:solidFill>
                <a:latin typeface="Segoe UI"/>
              </a:rPr>
              <a:t>Добавить</a:t>
            </a:r>
            <a:r>
              <a:rPr sz="1400" b="0" i="0" dirty="0">
                <a:solidFill>
                  <a:schemeClr val="bg1">
                    <a:lumMod val="75000"/>
                  </a:schemeClr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chemeClr val="bg1">
                    <a:lumMod val="75000"/>
                  </a:schemeClr>
                </a:solidFill>
                <a:latin typeface="Segoe UI"/>
              </a:rPr>
              <a:t>новый</a:t>
            </a:r>
            <a:r>
              <a:rPr sz="1400" b="0" i="0" dirty="0">
                <a:solidFill>
                  <a:schemeClr val="bg1">
                    <a:lumMod val="75000"/>
                  </a:schemeClr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chemeClr val="bg1">
                    <a:lumMod val="75000"/>
                  </a:schemeClr>
                </a:solidFill>
                <a:latin typeface="Segoe UI"/>
              </a:rPr>
              <a:t>кейс</a:t>
            </a:r>
            <a:endParaRPr sz="1400" b="0" i="0" dirty="0">
              <a:solidFill>
                <a:schemeClr val="bg1">
                  <a:lumMod val="75000"/>
                </a:schemeClr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1097280" cy="25400"/>
          </a:xfrm>
          <a:prstGeom prst="rect">
            <a:avLst/>
          </a:prstGeom>
          <a:solidFill>
            <a:srgbClr val="4B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B8BFF"/>
                </a:solidFill>
                <a:latin typeface="Segoe UI"/>
              </a:rPr>
              <a:t>Интерфейс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Детали, которые
отличают продукт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14600"/>
            <a:ext cx="3566160" cy="1828800"/>
          </a:xfrm>
          <a:prstGeom prst="rect">
            <a:avLst/>
          </a:prstGeom>
          <a:solidFill>
            <a:srgbClr val="10141D"/>
          </a:solidFill>
          <a:ln w="9525">
            <a:solidFill>
              <a:srgbClr val="20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26974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⌨️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Ctrl+K — глобальный поиск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56616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ADBA"/>
                </a:solidFill>
                <a:latin typeface="Segoe UI"/>
              </a:rPr>
              <a:t>Быстрый переход между разделами,
поиск по трекам и ISRC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2514600"/>
            <a:ext cx="3566160" cy="1828800"/>
          </a:xfrm>
          <a:prstGeom prst="rect">
            <a:avLst/>
          </a:prstGeom>
          <a:solidFill>
            <a:srgbClr val="10141D"/>
          </a:solidFill>
          <a:ln w="9525">
            <a:solidFill>
              <a:srgbClr val="20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53128" y="26974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🖼️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Высококачественные обложки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356616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ADBA"/>
                </a:solidFill>
                <a:latin typeface="Segoe UI"/>
              </a:rPr>
              <a:t>Unsplash-обложки в нужном разрешении
для каждого контекста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514600"/>
            <a:ext cx="3566160" cy="1828800"/>
          </a:xfrm>
          <a:prstGeom prst="rect">
            <a:avLst/>
          </a:prstGeom>
          <a:solidFill>
            <a:srgbClr val="10141D"/>
          </a:solidFill>
          <a:ln w="9525">
            <a:solidFill>
              <a:srgbClr val="20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7888" y="26974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Детали трека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356616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ADBA"/>
                </a:solidFill>
                <a:latin typeface="Segoe UI"/>
              </a:rPr>
              <a:t>RPM, доход по платформам,
доля в каталоге, превью обложки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26280"/>
            <a:ext cx="3566160" cy="1828800"/>
          </a:xfrm>
          <a:prstGeom prst="rect">
            <a:avLst/>
          </a:prstGeom>
          <a:solidFill>
            <a:srgbClr val="10141D"/>
          </a:solidFill>
          <a:ln w="9525">
            <a:solidFill>
              <a:srgbClr val="20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47091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212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Toast-уведомления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57784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ADBA"/>
                </a:solidFill>
                <a:latin typeface="Segoe UI"/>
              </a:rPr>
              <a:t>Все действия подтверждаются
в реальном времени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4526280"/>
            <a:ext cx="3566160" cy="1828800"/>
          </a:xfrm>
          <a:prstGeom prst="rect">
            <a:avLst/>
          </a:prstGeom>
          <a:solidFill>
            <a:srgbClr val="10141D"/>
          </a:solidFill>
          <a:ln w="9525">
            <a:solidFill>
              <a:srgbClr val="20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53128" y="47091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3128" y="5212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Экспорт везде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3128" y="557784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ADBA"/>
                </a:solidFill>
                <a:latin typeface="Segoe UI"/>
              </a:rPr>
              <a:t>CSV-выгрузка в балансе, каталоге
и реестре выплат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4526280"/>
            <a:ext cx="3566160" cy="1828800"/>
          </a:xfrm>
          <a:prstGeom prst="rect">
            <a:avLst/>
          </a:prstGeom>
          <a:solidFill>
            <a:srgbClr val="10141D"/>
          </a:solidFill>
          <a:ln w="9525">
            <a:solidFill>
              <a:srgbClr val="20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47888" y="47091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"/>
              </a:rPr>
              <a:t>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5212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Умные аватары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557784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ADBA"/>
                </a:solidFill>
                <a:latin typeface="Segoe UI"/>
              </a:rPr>
              <a:t>Изображение или инициалы
с детерминированным цветом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1097280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  <a:latin typeface="Segoe UI"/>
              </a:rPr>
              <a:t>Демо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Живая демонстрация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48840"/>
            <a:ext cx="2606040" cy="1920240"/>
          </a:xfrm>
          <a:prstGeom prst="rect">
            <a:avLst/>
          </a:prstGeom>
          <a:solidFill>
            <a:srgbClr val="10141D"/>
          </a:solidFill>
          <a:ln w="9525">
            <a:solidFill>
              <a:srgbClr val="20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31343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B8BFF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0720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Вход артистом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27832"/>
            <a:ext cx="2240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ADBA"/>
                </a:solidFill>
                <a:latin typeface="Segoe UI"/>
              </a:rPr>
              <a:t>Дашборд: доход, баланс, топ треков, платформы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148840"/>
            <a:ext cx="2606040" cy="1920240"/>
          </a:xfrm>
          <a:prstGeom prst="rect">
            <a:avLst/>
          </a:prstGeom>
          <a:solidFill>
            <a:srgbClr val="10141D"/>
          </a:solidFill>
          <a:ln w="9525">
            <a:solidFill>
              <a:srgbClr val="20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231343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B8BFF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80720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Каталог треков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227832"/>
            <a:ext cx="2240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ADBA"/>
                </a:solidFill>
                <a:latin typeface="Segoe UI"/>
              </a:rPr>
              <a:t>Фильтрация, детали трека, экспорт CSV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148840"/>
            <a:ext cx="2606040" cy="1920240"/>
          </a:xfrm>
          <a:prstGeom prst="rect">
            <a:avLst/>
          </a:prstGeom>
          <a:solidFill>
            <a:srgbClr val="10141D"/>
          </a:solidFill>
          <a:ln w="9525">
            <a:solidFill>
              <a:srgbClr val="20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231343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B8BFF"/>
                </a:solidFill>
                <a:latin typeface="Segoe U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80720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Аналитика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27832"/>
            <a:ext cx="2240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ADBA"/>
                </a:solidFill>
                <a:latin typeface="Segoe UI"/>
              </a:rPr>
              <a:t>Переключение периодов, шесть видов графиков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2148840"/>
            <a:ext cx="2606040" cy="1920240"/>
          </a:xfrm>
          <a:prstGeom prst="rect">
            <a:avLst/>
          </a:prstGeom>
          <a:solidFill>
            <a:srgbClr val="10141D"/>
          </a:solidFill>
          <a:ln w="9525">
            <a:solidFill>
              <a:srgbClr val="20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0" y="231343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B8BFF"/>
                </a:solidFill>
                <a:latin typeface="Segoe U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80720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AI-инсайты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227832"/>
            <a:ext cx="2240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ADBA"/>
                </a:solidFill>
                <a:latin typeface="Segoe UI"/>
              </a:rPr>
              <a:t>Риски, возможности, следующие действия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97680"/>
            <a:ext cx="2606040" cy="1920240"/>
          </a:xfrm>
          <a:prstGeom prst="rect">
            <a:avLst/>
          </a:prstGeom>
          <a:solidFill>
            <a:srgbClr val="10141D"/>
          </a:solidFill>
          <a:ln w="9525">
            <a:solidFill>
              <a:srgbClr val="20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446227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B8BFF"/>
                </a:solidFill>
                <a:latin typeface="Segoe U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95604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Баланс и выплаты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76672"/>
            <a:ext cx="2240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ADBA"/>
                </a:solidFill>
                <a:latin typeface="Segoe UI"/>
              </a:rPr>
              <a:t>История операций, детали выплаты, реквизиты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4297680"/>
            <a:ext cx="2606040" cy="1920240"/>
          </a:xfrm>
          <a:prstGeom prst="rect">
            <a:avLst/>
          </a:prstGeom>
          <a:solidFill>
            <a:srgbClr val="10141D"/>
          </a:solidFill>
          <a:ln w="9525">
            <a:solidFill>
              <a:srgbClr val="20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74720" y="446227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B8BFF"/>
                </a:solidFill>
                <a:latin typeface="Segoe U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95604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Согласования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5376672"/>
            <a:ext cx="2240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ADBA"/>
                </a:solidFill>
                <a:latin typeface="Segoe UI"/>
              </a:rPr>
              <a:t>Статус релиза, создание нового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4297680"/>
            <a:ext cx="2606040" cy="1920240"/>
          </a:xfrm>
          <a:prstGeom prst="rect">
            <a:avLst/>
          </a:prstGeom>
          <a:solidFill>
            <a:srgbClr val="10141D"/>
          </a:solidFill>
          <a:ln w="9525">
            <a:solidFill>
              <a:srgbClr val="20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446227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B8BFF"/>
                </a:solidFill>
                <a:latin typeface="Segoe UI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95604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Ctrl+K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376672"/>
            <a:ext cx="2240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ADBA"/>
                </a:solidFill>
                <a:latin typeface="Segoe UI"/>
              </a:rPr>
              <a:t>Глобальный поиск по разделам и трекам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1120" y="4297680"/>
            <a:ext cx="2606040" cy="1920240"/>
          </a:xfrm>
          <a:prstGeom prst="rect">
            <a:avLst/>
          </a:prstGeom>
          <a:solidFill>
            <a:srgbClr val="10141D"/>
          </a:solidFill>
          <a:ln w="9525">
            <a:solidFill>
              <a:srgbClr val="202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0" y="446227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B8BFF"/>
                </a:solidFill>
                <a:latin typeface="Segoe UI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95604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Режим администратора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5376672"/>
            <a:ext cx="2240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ADBA"/>
                </a:solidFill>
                <a:latin typeface="Segoe UI"/>
              </a:rPr>
              <a:t>Загрузка CSV-отчёта, обновление данных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4B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6540" y="1045114"/>
            <a:ext cx="109728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i="0" dirty="0">
                <a:solidFill>
                  <a:schemeClr val="bg1"/>
                </a:solidFill>
                <a:latin typeface="Segoe UI"/>
              </a:rPr>
              <a:t>Всё, что нужно лейблу — в одном месте</a:t>
            </a:r>
          </a:p>
          <a:p>
            <a:pPr algn="l"/>
            <a:endParaRPr sz="44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0972800" cy="25400"/>
          </a:xfrm>
          <a:prstGeom prst="rect">
            <a:avLst/>
          </a:prstGeom>
          <a:solidFill>
            <a:srgbClr val="20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B8BFF"/>
                </a:solidFill>
                <a:latin typeface="Segoe UI"/>
              </a:rPr>
              <a:t>8 разделов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540" y="3221316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A5ADBA"/>
                </a:solidFill>
                <a:latin typeface="Segoe UI"/>
              </a:rPr>
              <a:t>Полный</a:t>
            </a:r>
            <a:r>
              <a:rPr sz="1400" b="0" i="0" dirty="0">
                <a:solidFill>
                  <a:srgbClr val="A5ADBA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A5ADBA"/>
                </a:solidFill>
                <a:latin typeface="Segoe UI"/>
              </a:rPr>
              <a:t>цикл</a:t>
            </a:r>
            <a:r>
              <a:rPr sz="1400" b="0" i="0" dirty="0">
                <a:solidFill>
                  <a:srgbClr val="A5ADBA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A5ADBA"/>
                </a:solidFill>
                <a:latin typeface="Segoe UI"/>
              </a:rPr>
              <a:t>работы</a:t>
            </a:r>
            <a:r>
              <a:rPr sz="1400" b="0" i="0" dirty="0">
                <a:solidFill>
                  <a:srgbClr val="A5ADBA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A5ADBA"/>
                </a:solidFill>
                <a:latin typeface="Segoe UI"/>
              </a:rPr>
              <a:t>лейбла</a:t>
            </a:r>
            <a:endParaRPr sz="1400" b="0" i="0" dirty="0">
              <a:solidFill>
                <a:srgbClr val="A5ADBA"/>
              </a:solidFill>
              <a:latin typeface="Sego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37560" y="2331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4B8BFF"/>
                </a:solidFill>
                <a:latin typeface="Segoe UI"/>
              </a:rPr>
              <a:t>CSV/XLSX </a:t>
            </a:r>
            <a:r>
              <a:rPr sz="2200" b="1" i="0" dirty="0" err="1">
                <a:solidFill>
                  <a:srgbClr val="4B8BFF"/>
                </a:solidFill>
                <a:latin typeface="Segoe UI"/>
              </a:rPr>
              <a:t>импорт</a:t>
            </a:r>
            <a:endParaRPr sz="2200" b="1" i="0" dirty="0">
              <a:solidFill>
                <a:srgbClr val="4B8BFF"/>
              </a:solidFill>
              <a:latin typeface="Segoe U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05460" y="3221316"/>
            <a:ext cx="2560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A5ADBA"/>
                </a:solidFill>
                <a:latin typeface="Segoe UI"/>
              </a:rPr>
              <a:t>Любой</a:t>
            </a:r>
            <a:r>
              <a:rPr sz="1400" b="0" i="0" dirty="0">
                <a:solidFill>
                  <a:srgbClr val="A5ADBA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A5ADBA"/>
                </a:solidFill>
                <a:latin typeface="Segoe UI"/>
              </a:rPr>
              <a:t>отчёт</a:t>
            </a:r>
            <a:r>
              <a:rPr sz="1400" b="0" i="0" dirty="0">
                <a:solidFill>
                  <a:srgbClr val="A5ADBA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A5ADBA"/>
                </a:solidFill>
                <a:latin typeface="Segoe UI"/>
              </a:rPr>
              <a:t>платформы</a:t>
            </a:r>
            <a:r>
              <a:rPr sz="1400" b="0" i="0" dirty="0">
                <a:solidFill>
                  <a:srgbClr val="A5ADBA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A5ADBA"/>
                </a:solidFill>
                <a:latin typeface="Segoe UI"/>
              </a:rPr>
              <a:t>за</a:t>
            </a:r>
            <a:r>
              <a:rPr sz="1400" b="0" i="0" dirty="0">
                <a:solidFill>
                  <a:srgbClr val="A5ADBA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A5ADBA"/>
                </a:solidFill>
                <a:latin typeface="Segoe UI"/>
              </a:rPr>
              <a:t>секунды</a:t>
            </a:r>
            <a:endParaRPr sz="1400" b="0" i="0" dirty="0">
              <a:solidFill>
                <a:srgbClr val="A5ADBA"/>
              </a:solidFill>
              <a:latin typeface="Segoe U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989320" y="2331720"/>
            <a:ext cx="36576" cy="1371600"/>
          </a:xfrm>
          <a:prstGeom prst="rect">
            <a:avLst/>
          </a:prstGeom>
          <a:solidFill>
            <a:srgbClr val="20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79" y="2331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B8BFF"/>
                </a:solidFill>
                <a:latin typeface="Segoe UI"/>
              </a:rPr>
              <a:t>AI-инсайты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4379" y="3221316"/>
            <a:ext cx="2560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A5ADBA"/>
                </a:solidFill>
                <a:latin typeface="Segoe UI"/>
              </a:rPr>
              <a:t>Риски</a:t>
            </a:r>
            <a:r>
              <a:rPr sz="1400" b="0" i="0" dirty="0">
                <a:solidFill>
                  <a:srgbClr val="A5ADBA"/>
                </a:solidFill>
                <a:latin typeface="Segoe UI"/>
              </a:rPr>
              <a:t> и </a:t>
            </a:r>
            <a:r>
              <a:rPr sz="1400" b="0" i="0" dirty="0" err="1">
                <a:solidFill>
                  <a:srgbClr val="A5ADBA"/>
                </a:solidFill>
                <a:latin typeface="Segoe UI"/>
              </a:rPr>
              <a:t>возможности</a:t>
            </a:r>
            <a:r>
              <a:rPr sz="1400" b="0" i="0" dirty="0">
                <a:solidFill>
                  <a:srgbClr val="A5ADBA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A5ADBA"/>
                </a:solidFill>
                <a:latin typeface="Segoe UI"/>
              </a:rPr>
              <a:t>по</a:t>
            </a:r>
            <a:r>
              <a:rPr sz="1400" b="0" i="0" dirty="0">
                <a:solidFill>
                  <a:srgbClr val="A5ADBA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A5ADBA"/>
                </a:solidFill>
                <a:latin typeface="Segoe UI"/>
              </a:rPr>
              <a:t>каталогу</a:t>
            </a:r>
            <a:endParaRPr sz="1400" b="0" i="0" dirty="0">
              <a:solidFill>
                <a:srgbClr val="A5ADBA"/>
              </a:solidFill>
              <a:latin typeface="Segoe U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915399" y="2331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B8BFF"/>
                </a:solidFill>
                <a:latin typeface="Segoe UI"/>
              </a:rPr>
              <a:t>DataLens-интеграция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3299" y="3221316"/>
            <a:ext cx="2560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ADBA"/>
                </a:solidFill>
                <a:latin typeface="Segoe UI"/>
              </a:rPr>
              <a:t>BI-дашборды привязаны к ЛК артиста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834034"/>
            <a:ext cx="10972800" cy="25400"/>
          </a:xfrm>
          <a:prstGeom prst="rect">
            <a:avLst/>
          </a:prstGeom>
          <a:solidFill>
            <a:srgbClr val="20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9312" y="497701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586374"/>
                </a:solidFill>
                <a:latin typeface="Segoe UI"/>
              </a:rPr>
              <a:t>Стек</a:t>
            </a:r>
            <a:r>
              <a:rPr sz="1300" b="1" i="0" dirty="0">
                <a:solidFill>
                  <a:srgbClr val="586374"/>
                </a:solidFill>
                <a:latin typeface="Segoe UI"/>
              </a:rPr>
              <a:t>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6695" y="4818860"/>
            <a:ext cx="1654937" cy="573655"/>
          </a:xfrm>
          <a:prstGeom prst="rect">
            <a:avLst/>
          </a:prstGeom>
          <a:solidFill>
            <a:srgbClr val="0F1B33"/>
          </a:solidFill>
          <a:ln w="9525">
            <a:solidFill>
              <a:srgbClr val="4B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69848" y="4869295"/>
            <a:ext cx="13898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4B8BFF"/>
                </a:solidFill>
                <a:latin typeface="Segoe UI"/>
              </a:rPr>
              <a:t>React 18 + TypeScript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15767" y="4818860"/>
            <a:ext cx="1654937" cy="573655"/>
          </a:xfrm>
          <a:prstGeom prst="rect">
            <a:avLst/>
          </a:prstGeom>
          <a:solidFill>
            <a:srgbClr val="062712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88920" y="4869295"/>
            <a:ext cx="13898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Segoe UI"/>
              </a:rPr>
              <a:t>FastAPI + PostgreSQL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39" y="4818860"/>
            <a:ext cx="1654937" cy="573655"/>
          </a:xfrm>
          <a:prstGeom prst="rect">
            <a:avLst/>
          </a:prstGeom>
          <a:solidFill>
            <a:srgbClr val="2E2301"/>
          </a:solidFill>
          <a:ln w="9525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07992" y="4869295"/>
            <a:ext cx="13898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AB308"/>
                </a:solidFill>
                <a:latin typeface="Segoe UI"/>
              </a:rPr>
              <a:t>Docker Compose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53910" y="4818860"/>
            <a:ext cx="1654937" cy="573655"/>
          </a:xfrm>
          <a:prstGeom prst="rect">
            <a:avLst/>
          </a:prstGeom>
          <a:solidFill>
            <a:srgbClr val="211131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27063" y="4869295"/>
            <a:ext cx="13898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855F7"/>
                </a:solidFill>
                <a:latin typeface="Segoe UI"/>
              </a:rPr>
              <a:t>Yandex DataLens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72983" y="4818860"/>
            <a:ext cx="1654937" cy="573655"/>
          </a:xfrm>
          <a:prstGeom prst="rect">
            <a:avLst/>
          </a:prstGeom>
          <a:solidFill>
            <a:srgbClr val="0F1B33"/>
          </a:solidFill>
          <a:ln w="9525">
            <a:solidFill>
              <a:srgbClr val="4B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46136" y="4869295"/>
            <a:ext cx="13898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 err="1">
                <a:solidFill>
                  <a:srgbClr val="4B8BFF"/>
                </a:solidFill>
                <a:latin typeface="Segoe UI"/>
              </a:rPr>
              <a:t>TanStack</a:t>
            </a:r>
            <a:r>
              <a:rPr sz="1400" b="1" dirty="0">
                <a:solidFill>
                  <a:srgbClr val="4B8BFF"/>
                </a:solidFill>
                <a:latin typeface="Segoe UI"/>
              </a:rPr>
              <a:t> Query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92054" y="4818860"/>
            <a:ext cx="1654937" cy="573655"/>
          </a:xfrm>
          <a:prstGeom prst="rect">
            <a:avLst/>
          </a:prstGeom>
          <a:solidFill>
            <a:srgbClr val="062712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72131" y="4977016"/>
            <a:ext cx="14947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22C55E"/>
                </a:solidFill>
                <a:latin typeface="Segoe UI"/>
              </a:rPr>
              <a:t>Recharts</a:t>
            </a:r>
          </a:p>
        </p:txBody>
      </p:sp>
      <p:sp>
        <p:nvSpPr>
          <p:cNvPr id="41" name="Rectangle 10">
            <a:extLst>
              <a:ext uri="{FF2B5EF4-FFF2-40B4-BE49-F238E27FC236}">
                <a16:creationId xmlns:a16="http://schemas.microsoft.com/office/drawing/2014/main" id="{A93CCDF6-980B-4302-B34F-0FAF5779C729}"/>
              </a:ext>
            </a:extLst>
          </p:cNvPr>
          <p:cNvSpPr/>
          <p:nvPr/>
        </p:nvSpPr>
        <p:spPr>
          <a:xfrm>
            <a:off x="8666273" y="2331720"/>
            <a:ext cx="36576" cy="1371600"/>
          </a:xfrm>
          <a:prstGeom prst="rect">
            <a:avLst/>
          </a:prstGeom>
          <a:solidFill>
            <a:srgbClr val="20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10">
            <a:extLst>
              <a:ext uri="{FF2B5EF4-FFF2-40B4-BE49-F238E27FC236}">
                <a16:creationId xmlns:a16="http://schemas.microsoft.com/office/drawing/2014/main" id="{F9838892-2A9A-494E-85B6-2D8E0D0908A5}"/>
              </a:ext>
            </a:extLst>
          </p:cNvPr>
          <p:cNvSpPr/>
          <p:nvPr/>
        </p:nvSpPr>
        <p:spPr>
          <a:xfrm>
            <a:off x="3088434" y="2323570"/>
            <a:ext cx="36576" cy="1371600"/>
          </a:xfrm>
          <a:prstGeom prst="rect">
            <a:avLst/>
          </a:prstGeom>
          <a:solidFill>
            <a:srgbClr val="20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7">
            <a:extLst>
              <a:ext uri="{FF2B5EF4-FFF2-40B4-BE49-F238E27FC236}">
                <a16:creationId xmlns:a16="http://schemas.microsoft.com/office/drawing/2014/main" id="{41BC884B-8681-41DE-A5E2-76701F738C8B}"/>
              </a:ext>
            </a:extLst>
          </p:cNvPr>
          <p:cNvSpPr/>
          <p:nvPr/>
        </p:nvSpPr>
        <p:spPr>
          <a:xfrm>
            <a:off x="-1" y="0"/>
            <a:ext cx="12188825" cy="6858000"/>
          </a:xfrm>
          <a:prstGeom prst="rect">
            <a:avLst/>
          </a:prstGeom>
          <a:solidFill>
            <a:srgbClr val="4B8BFF"/>
          </a:solidFill>
          <a:ln w="9525">
            <a:solidFill>
              <a:srgbClr val="4B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B90B1C-82FA-419D-96BF-03F392067189}"/>
              </a:ext>
            </a:extLst>
          </p:cNvPr>
          <p:cNvSpPr txBox="1"/>
          <p:nvPr/>
        </p:nvSpPr>
        <p:spPr>
          <a:xfrm>
            <a:off x="1011404" y="2826200"/>
            <a:ext cx="101660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 dirty="0" err="1">
                <a:solidFill>
                  <a:srgbClr val="FFFFFF"/>
                </a:solidFill>
                <a:latin typeface="Segoe UI"/>
              </a:rPr>
              <a:t>Спасибо</a:t>
            </a:r>
            <a:r>
              <a:rPr sz="72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7200" b="1" i="0" dirty="0" err="1">
                <a:solidFill>
                  <a:srgbClr val="FFFFFF"/>
                </a:solidFill>
                <a:latin typeface="Segoe UI"/>
              </a:rPr>
              <a:t>за</a:t>
            </a:r>
            <a:r>
              <a:rPr sz="72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7200" b="1" i="0" dirty="0" err="1">
                <a:solidFill>
                  <a:srgbClr val="FFFFFF"/>
                </a:solidFill>
                <a:latin typeface="Segoe UI"/>
              </a:rPr>
              <a:t>внимание</a:t>
            </a:r>
            <a:r>
              <a:rPr sz="7200" b="1" i="0" dirty="0">
                <a:solidFill>
                  <a:srgbClr val="FFFFFF"/>
                </a:solidFill>
                <a:latin typeface="Segoe UI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370477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1547</Words>
  <Application>Microsoft Office PowerPoint</Application>
  <PresentationFormat>Произвольный</PresentationFormat>
  <Paragraphs>259</Paragraphs>
  <Slides>13</Slides>
  <Notes>12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Segoe UI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Даниил Журавлёв</cp:lastModifiedBy>
  <cp:revision>3</cp:revision>
  <dcterms:created xsi:type="dcterms:W3CDTF">2013-01-27T09:14:16Z</dcterms:created>
  <dcterms:modified xsi:type="dcterms:W3CDTF">2026-05-20T21:22:08Z</dcterms:modified>
  <cp:category/>
</cp:coreProperties>
</file>